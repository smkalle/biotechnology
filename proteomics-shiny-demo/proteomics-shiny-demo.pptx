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958280"/>
            <a:ext cx="5722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Proteomics Shiny Explorer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720280"/>
            <a:ext cx="680085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2400"/>
              </a:spcAft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Cross-Study Visualization, QC, and Differential Analysis Dashboard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4575870"/>
            <a:ext cx="30562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Demo • Pharma-Ready Analytics Platform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4e0fa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952500"/>
            <a:ext cx="4048125" cy="1197173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952500"/>
            <a:ext cx="0" cy="1197173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1104900"/>
            <a:ext cx="37793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PAIN POINT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571500" y="1354336"/>
            <a:ext cx="377932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5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pharma companies like Roche/Genentech struggle to query and visualize proteomics data across multiple clinical trials in a unified way.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381000" y="2302073"/>
            <a:ext cx="41290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challenges: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3945" y="2641104"/>
            <a:ext cx="30256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datasets per study — no cross-trial comparison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603945" y="2917329"/>
            <a:ext cx="29201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QC workflows — inconsistent quality checks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603945" y="3193554"/>
            <a:ext cx="22251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self-service exploration for scientists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603945" y="3469779"/>
            <a:ext cx="24947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to generate basic differential analysis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714875" y="952500"/>
            <a:ext cx="4048125" cy="982861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733925" y="952500"/>
            <a:ext cx="0" cy="98286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05375" y="1104900"/>
            <a:ext cx="37793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SOLUTION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905375" y="1354336"/>
            <a:ext cx="377932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22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Shiny dashboard enabling instant cross-study proteomics exploration with built-in QC and statistics.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4714875" y="2087761"/>
            <a:ext cx="41290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37820" y="2426791"/>
            <a:ext cx="26536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 model across 3 trials, 140 samples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4937820" y="2703016"/>
            <a:ext cx="29743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QC: missingness plots, PCA batch effects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4937820" y="2979241"/>
            <a:ext cx="2464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Point-and-click protein exploration with stats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4937820" y="3255466"/>
            <a:ext cx="24129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differential analysis in seconds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45352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4982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Data Schema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9144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cross-study integration — supports any proteomics platform with consistent column naming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253430"/>
            <a:ext cx="4076700" cy="3604320"/>
          </a:xfrm>
          <a:prstGeom prst="roundRect">
            <a:avLst>
              <a:gd name="adj" fmla="val 3171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1949797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42975" y="2002185"/>
            <a:ext cx="15716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expression_matrix.csv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542925" y="2521297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Log2-transformed intensity values (proteins × samples)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2925" y="2947988"/>
            <a:ext cx="37528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38175" y="3214688"/>
            <a:ext cx="356235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925" y="4014788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rows × 140 columns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686300" y="1253430"/>
            <a:ext cx="4076700" cy="3604320"/>
          </a:xfrm>
          <a:prstGeom prst="roundRect">
            <a:avLst>
              <a:gd name="adj" fmla="val 3171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48225" y="1759297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48275" y="1811685"/>
            <a:ext cx="9235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metadata.csv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4848225" y="2330797"/>
            <a:ext cx="38279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Sample-level annotations for grouping and filtering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48225" y="4205288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rows × 7 columns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4781550"/>
            <a:ext cx="28946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enables drop-in replacement with real MS proteomics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5391f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Dashboard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summary, quality control metrics, and batch effect visualization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177230"/>
            <a:ext cx="2667000" cy="3680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tmp/rasterized-gradient-42771c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802309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1075" y="1873746"/>
            <a:ext cx="1231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Summary</a:t>
            </a:r>
            <a:endParaRPr lang="en-US" sz="1125" dirty="0"/>
          </a:p>
        </p:txBody>
      </p:sp>
      <p:sp>
        <p:nvSpPr>
          <p:cNvPr id="8" name="Text 4"/>
          <p:cNvSpPr/>
          <p:nvPr/>
        </p:nvSpPr>
        <p:spPr>
          <a:xfrm>
            <a:off x="542925" y="2411909"/>
            <a:ext cx="2343150" cy="786557"/>
          </a:xfrm>
          <a:prstGeom prst="roundRect">
            <a:avLst>
              <a:gd name="adj" fmla="val 968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36080" y="2526209"/>
            <a:ext cx="215684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36080" y="2937570"/>
            <a:ext cx="21568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542925" y="3293715"/>
            <a:ext cx="1133475" cy="544711"/>
          </a:xfrm>
          <a:prstGeom prst="roundRect">
            <a:avLst>
              <a:gd name="adj" fmla="val 139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09314" y="3369915"/>
            <a:ext cx="100069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09314" y="3628876"/>
            <a:ext cx="10006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752600" y="3293715"/>
            <a:ext cx="1133475" cy="544711"/>
          </a:xfrm>
          <a:prstGeom prst="roundRect">
            <a:avLst>
              <a:gd name="adj" fmla="val 139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818989" y="3369915"/>
            <a:ext cx="100069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818989" y="3628876"/>
            <a:ext cx="10006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Trials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42925" y="4086076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Per-trial breakdown table included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3238500" y="1177230"/>
            <a:ext cx="2667000" cy="3680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2" descr="/tmp/rasterized-gradient-cbb31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1943993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38575" y="2015430"/>
            <a:ext cx="1206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(QC)</a:t>
            </a:r>
            <a:endParaRPr lang="en-US" sz="1125" dirty="0"/>
          </a:p>
        </p:txBody>
      </p:sp>
      <p:sp>
        <p:nvSpPr>
          <p:cNvPr id="21" name="Text 16"/>
          <p:cNvSpPr/>
          <p:nvPr/>
        </p:nvSpPr>
        <p:spPr>
          <a:xfrm>
            <a:off x="3400425" y="2553593"/>
            <a:ext cx="23431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514725" y="2667893"/>
            <a:ext cx="21568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Missingness Distribution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3609975" y="3487043"/>
            <a:ext cx="207169" cy="15240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3855244" y="3296543"/>
            <a:ext cx="207169" cy="342900"/>
          </a:xfrm>
          <a:prstGeom prst="roundRect">
            <a:avLst>
              <a:gd name="adj" fmla="val 9195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100513" y="3029843"/>
            <a:ext cx="207169" cy="609600"/>
          </a:xfrm>
          <a:prstGeom prst="roundRect">
            <a:avLst>
              <a:gd name="adj" fmla="val 9195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345781" y="2877443"/>
            <a:ext cx="207169" cy="762000"/>
          </a:xfrm>
          <a:prstGeom prst="roundRect">
            <a:avLst>
              <a:gd name="adj" fmla="val 9195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591050" y="3106043"/>
            <a:ext cx="207169" cy="533400"/>
          </a:xfrm>
          <a:prstGeom prst="roundRect">
            <a:avLst>
              <a:gd name="adj" fmla="val 9195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836319" y="3334643"/>
            <a:ext cx="207169" cy="304800"/>
          </a:xfrm>
          <a:prstGeom prst="roundRect">
            <a:avLst>
              <a:gd name="adj" fmla="val 9195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5081588" y="3448943"/>
            <a:ext cx="207169" cy="1905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5326856" y="3563243"/>
            <a:ext cx="207169" cy="762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3609975" y="3677543"/>
            <a:ext cx="20596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────────────── 20%</a:t>
            </a:r>
            <a:endParaRPr lang="en-US" sz="675" dirty="0"/>
          </a:p>
        </p:txBody>
      </p:sp>
      <p:sp>
        <p:nvSpPr>
          <p:cNvPr id="32" name="Text 27"/>
          <p:cNvSpPr/>
          <p:nvPr/>
        </p:nvSpPr>
        <p:spPr>
          <a:xfrm>
            <a:off x="3400425" y="3944243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Toggle: per-sample or per-protein view</a:t>
            </a:r>
            <a:endParaRPr lang="en-US" sz="825" dirty="0"/>
          </a:p>
        </p:txBody>
      </p:sp>
      <p:sp>
        <p:nvSpPr>
          <p:cNvPr id="33" name="Text 28"/>
          <p:cNvSpPr/>
          <p:nvPr/>
        </p:nvSpPr>
        <p:spPr>
          <a:xfrm>
            <a:off x="6096000" y="1177230"/>
            <a:ext cx="2667000" cy="36805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3" descr="/tmp/rasterized-gradient-b684c76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943993"/>
            <a:ext cx="342900" cy="3429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696075" y="2015430"/>
            <a:ext cx="12309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Visualization</a:t>
            </a:r>
            <a:endParaRPr lang="en-US" sz="1125" dirty="0"/>
          </a:p>
        </p:txBody>
      </p:sp>
      <p:sp>
        <p:nvSpPr>
          <p:cNvPr id="36" name="Text 30"/>
          <p:cNvSpPr/>
          <p:nvPr/>
        </p:nvSpPr>
        <p:spPr>
          <a:xfrm>
            <a:off x="6257925" y="2553593"/>
            <a:ext cx="23431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6372225" y="2667893"/>
            <a:ext cx="21568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 vs PC2 (colored by trial)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6689378" y="31060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6837313" y="31822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6752779" y="32584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7535168" y="30679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7640836" y="31441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7471767" y="32203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7852321" y="32965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8021538" y="33727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7958138" y="34489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257925" y="3944243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by: trial / treatment / response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77796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Explorer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single-protein visualization with real-time statistical testing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658392"/>
            <a:ext cx="1905000" cy="986582"/>
          </a:xfrm>
          <a:prstGeom prst="roundRect">
            <a:avLst>
              <a:gd name="adj" fmla="val 772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04825" y="1782217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Protein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504825" y="1985963"/>
            <a:ext cx="1657350" cy="344686"/>
          </a:xfrm>
          <a:prstGeom prst="roundRect">
            <a:avLst>
              <a:gd name="adj" fmla="val 1658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9600" y="2071688"/>
            <a:ext cx="14767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EGFR ▼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04825" y="2387798"/>
            <a:ext cx="16904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proteins searchable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1000" y="2759273"/>
            <a:ext cx="1905000" cy="870496"/>
          </a:xfrm>
          <a:prstGeom prst="roundRect">
            <a:avLst>
              <a:gd name="adj" fmla="val 87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4825" y="2883098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By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04825" y="3086844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04825" y="3239244"/>
            <a:ext cx="114300" cy="114300"/>
          </a:xfrm>
          <a:prstGeom prst="roundRect">
            <a:avLst>
              <a:gd name="adj" fmla="val 800000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4825" y="3391644"/>
            <a:ext cx="114300" cy="114300"/>
          </a:xfrm>
          <a:prstGeom prst="roundRect">
            <a:avLst>
              <a:gd name="adj" fmla="val 800000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81000" y="3744069"/>
            <a:ext cx="1905000" cy="632371"/>
          </a:xfrm>
          <a:prstGeom prst="roundRect">
            <a:avLst>
              <a:gd name="adj" fmla="val 120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04825" y="3867894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Test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2514600" y="1177230"/>
            <a:ext cx="4305300" cy="3680520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676525" y="1339155"/>
            <a:ext cx="4061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EGFR Expression by Treatment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2676525" y="1779091"/>
            <a:ext cx="3981450" cy="2916734"/>
          </a:xfrm>
          <a:prstGeom prst="roundRect">
            <a:avLst>
              <a:gd name="adj" fmla="val 26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1" descr="/tmp/rasterized-gradient-7778deb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738" y="2828925"/>
            <a:ext cx="571500" cy="13335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39988" y="3295650"/>
            <a:ext cx="381000" cy="381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316188" y="316230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487638" y="3362325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401913" y="356235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2" descr="/tmp/rasterized-gradient-4954e42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414" y="3019425"/>
            <a:ext cx="476250" cy="11430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571851" y="3533775"/>
            <a:ext cx="333375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3" descr="/tmp/rasterized-gradient-e3896e8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839" y="3209925"/>
            <a:ext cx="428625" cy="9525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832277" y="3686175"/>
            <a:ext cx="285750" cy="3810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 rot="16200000">
            <a:off x="2714625" y="3572098"/>
            <a:ext cx="6049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Log2 Intensity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7048500" y="1880295"/>
            <a:ext cx="1714500" cy="1422946"/>
          </a:xfrm>
          <a:prstGeom prst="roundRect">
            <a:avLst>
              <a:gd name="adj" fmla="val 535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7172325" y="2004120"/>
            <a:ext cx="14961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Summary</a:t>
            </a:r>
            <a:endParaRPr lang="en-US" sz="825" dirty="0"/>
          </a:p>
        </p:txBody>
      </p:sp>
      <p:sp>
        <p:nvSpPr>
          <p:cNvPr id="32" name="Shape 26"/>
          <p:cNvSpPr/>
          <p:nvPr/>
        </p:nvSpPr>
        <p:spPr>
          <a:xfrm>
            <a:off x="7172325" y="2784128"/>
            <a:ext cx="1466850" cy="0"/>
          </a:xfrm>
          <a:prstGeom prst="line">
            <a:avLst/>
          </a:prstGeom>
          <a:noFill/>
          <a:ln w="9525">
            <a:solidFill>
              <a:srgbClr val="86EFA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048500" y="3417540"/>
            <a:ext cx="1714500" cy="737146"/>
          </a:xfrm>
          <a:prstGeom prst="roundRect">
            <a:avLst>
              <a:gd name="adj" fmla="val 103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7172325" y="3541365"/>
            <a:ext cx="14961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Sizes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25c86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Analysis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Genome-wide comparison with volcano plot and downloadable results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120080"/>
            <a:ext cx="5562600" cy="3604320"/>
          </a:xfrm>
          <a:prstGeom prst="roundRect">
            <a:avLst>
              <a:gd name="adj" fmla="val 31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1282005"/>
            <a:ext cx="20885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 Plot: Drug A vs Placebo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2925" y="1697236"/>
            <a:ext cx="5238750" cy="2531864"/>
          </a:xfrm>
          <a:prstGeom prst="roundRect">
            <a:avLst>
              <a:gd name="adj" fmla="val 301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162300" y="1697236"/>
            <a:ext cx="9525" cy="253186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114550" y="1697236"/>
            <a:ext cx="9525" cy="2531864"/>
          </a:xfrm>
          <a:prstGeom prst="rect">
            <a:avLst/>
          </a:prstGeom>
          <a:solidFill>
            <a:srgbClr val="FECA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10050" y="1697236"/>
            <a:ext cx="9525" cy="2531864"/>
          </a:xfrm>
          <a:prstGeom prst="rect">
            <a:avLst/>
          </a:prstGeom>
          <a:solidFill>
            <a:srgbClr val="BFDB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42925" y="2456706"/>
            <a:ext cx="5238750" cy="952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900363" y="3216325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267075" y="3342829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057525" y="3469481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424238" y="3520083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743200" y="341888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581400" y="3266926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952750" y="3089672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371850" y="3165574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629150" y="2076896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38700" y="2203549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471988" y="2330202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95863" y="2406104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314825" y="2507307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485900" y="2152948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695450" y="2254151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328738" y="2406104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852612" y="2456706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770361" y="4019550"/>
            <a:ext cx="7995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Log2 Fold Change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 rot="16200000">
            <a:off x="581025" y="3324299"/>
            <a:ext cx="6589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-Log10 P-value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267099" y="446246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870597" y="446246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542854" y="446246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096000" y="853678"/>
            <a:ext cx="2667000" cy="1259086"/>
          </a:xfrm>
          <a:prstGeom prst="roundRect">
            <a:avLst>
              <a:gd name="adj" fmla="val 60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219825" y="977503"/>
            <a:ext cx="2467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Settings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6219825" y="1676549"/>
            <a:ext cx="2419350" cy="312390"/>
          </a:xfrm>
          <a:prstGeom prst="roundRect">
            <a:avLst>
              <a:gd name="adj" fmla="val 1829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312217" y="1752749"/>
            <a:ext cx="22345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Run Analysis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096000" y="2227064"/>
            <a:ext cx="2667000" cy="876151"/>
          </a:xfrm>
          <a:prstGeom prst="roundRect">
            <a:avLst>
              <a:gd name="adj" fmla="val 869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219825" y="2350889"/>
            <a:ext cx="2467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Summary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6212269" y="2573685"/>
            <a:ext cx="7707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6212269" y="2859435"/>
            <a:ext cx="7707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7044069" y="2573685"/>
            <a:ext cx="7707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7044069" y="2859435"/>
            <a:ext cx="7707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</a:t>
            </a:r>
            <a:endParaRPr lang="en-US" sz="675" dirty="0"/>
          </a:p>
        </p:txBody>
      </p:sp>
      <p:sp>
        <p:nvSpPr>
          <p:cNvPr id="44" name="Text 41"/>
          <p:cNvSpPr/>
          <p:nvPr/>
        </p:nvSpPr>
        <p:spPr>
          <a:xfrm>
            <a:off x="7875870" y="2573685"/>
            <a:ext cx="7707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7875870" y="2859435"/>
            <a:ext cx="7707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</a:t>
            </a:r>
            <a:endParaRPr lang="en-US" sz="675" dirty="0"/>
          </a:p>
        </p:txBody>
      </p:sp>
      <p:sp>
        <p:nvSpPr>
          <p:cNvPr id="46" name="Text 43"/>
          <p:cNvSpPr/>
          <p:nvPr/>
        </p:nvSpPr>
        <p:spPr>
          <a:xfrm>
            <a:off x="6096000" y="3217515"/>
            <a:ext cx="2667000" cy="1308646"/>
          </a:xfrm>
          <a:prstGeom prst="roundRect">
            <a:avLst>
              <a:gd name="adj" fmla="val 58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6219825" y="3341340"/>
            <a:ext cx="2467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Differential Proteins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6219825" y="3564136"/>
            <a:ext cx="2419350" cy="180975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219825" y="3783211"/>
            <a:ext cx="2419350" cy="180975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219825" y="4002286"/>
            <a:ext cx="2419350" cy="180975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6219825" y="4221361"/>
            <a:ext cx="2419350" cy="180975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096000" y="4640461"/>
            <a:ext cx="2667000" cy="350490"/>
          </a:xfrm>
          <a:prstGeom prst="roundRect">
            <a:avLst>
              <a:gd name="adj" fmla="val 16306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6185916" y="4735711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CSV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98cbd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R/Shiny architecture with clean separation of concerns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177230"/>
            <a:ext cx="1554510" cy="1106686"/>
          </a:xfrm>
          <a:prstGeom prst="roundRect">
            <a:avLst>
              <a:gd name="adj" fmla="val 8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tmp/rasterized-gradient-4bf3028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680" y="1320105"/>
            <a:ext cx="381000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187" y="1796355"/>
            <a:ext cx="12941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Shiny</a:t>
            </a:r>
            <a:endParaRPr lang="en-US" sz="975" dirty="0"/>
          </a:p>
        </p:txBody>
      </p:sp>
      <p:sp>
        <p:nvSpPr>
          <p:cNvPr id="8" name="Text 4"/>
          <p:cNvSpPr/>
          <p:nvPr/>
        </p:nvSpPr>
        <p:spPr>
          <a:xfrm>
            <a:off x="511187" y="2007691"/>
            <a:ext cx="12941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 framework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2087910" y="1177230"/>
            <a:ext cx="1554510" cy="1106686"/>
          </a:xfrm>
          <a:prstGeom prst="roundRect">
            <a:avLst>
              <a:gd name="adj" fmla="val 8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/tmp/rasterized-gradient-7d536a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590" y="1320105"/>
            <a:ext cx="381000" cy="381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18097" y="1796355"/>
            <a:ext cx="12941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</a:t>
            </a:r>
            <a:endParaRPr lang="en-US" sz="975" dirty="0"/>
          </a:p>
        </p:txBody>
      </p:sp>
      <p:sp>
        <p:nvSpPr>
          <p:cNvPr id="12" name="Text 7"/>
          <p:cNvSpPr/>
          <p:nvPr/>
        </p:nvSpPr>
        <p:spPr>
          <a:xfrm>
            <a:off x="2218097" y="2007691"/>
            <a:ext cx="12941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3794820" y="1177230"/>
            <a:ext cx="1554510" cy="1106686"/>
          </a:xfrm>
          <a:prstGeom prst="roundRect">
            <a:avLst>
              <a:gd name="adj" fmla="val 8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/tmp/rasterized-gradient-32dfc76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320105"/>
            <a:ext cx="381000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25007" y="1796355"/>
            <a:ext cx="12941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ggplot2</a:t>
            </a:r>
            <a:endParaRPr lang="en-US" sz="975" dirty="0"/>
          </a:p>
        </p:txBody>
      </p:sp>
      <p:sp>
        <p:nvSpPr>
          <p:cNvPr id="16" name="Text 10"/>
          <p:cNvSpPr/>
          <p:nvPr/>
        </p:nvSpPr>
        <p:spPr>
          <a:xfrm>
            <a:off x="3925007" y="2007691"/>
            <a:ext cx="12941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of graphics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5501729" y="1177230"/>
            <a:ext cx="1554510" cy="1106686"/>
          </a:xfrm>
          <a:prstGeom prst="roundRect">
            <a:avLst>
              <a:gd name="adj" fmla="val 8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4" descr="/tmp/rasterized-gradient-d078e4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410" y="1320105"/>
            <a:ext cx="381000" cy="381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31917" y="1796355"/>
            <a:ext cx="12941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</a:t>
            </a:r>
            <a:endParaRPr lang="en-US" sz="975" dirty="0"/>
          </a:p>
        </p:txBody>
      </p:sp>
      <p:sp>
        <p:nvSpPr>
          <p:cNvPr id="20" name="Text 13"/>
          <p:cNvSpPr/>
          <p:nvPr/>
        </p:nvSpPr>
        <p:spPr>
          <a:xfrm>
            <a:off x="5631917" y="2007691"/>
            <a:ext cx="12941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tables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7208639" y="1177230"/>
            <a:ext cx="1554510" cy="1106686"/>
          </a:xfrm>
          <a:prstGeom prst="roundRect">
            <a:avLst>
              <a:gd name="adj" fmla="val 86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/tmp/rasterized-gradient-b5716ee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320" y="1320105"/>
            <a:ext cx="381000" cy="3810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38826" y="1796355"/>
            <a:ext cx="129413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broom</a:t>
            </a:r>
            <a:endParaRPr lang="en-US" sz="975" dirty="0"/>
          </a:p>
        </p:txBody>
      </p:sp>
      <p:sp>
        <p:nvSpPr>
          <p:cNvPr id="24" name="Text 16"/>
          <p:cNvSpPr/>
          <p:nvPr/>
        </p:nvSpPr>
        <p:spPr>
          <a:xfrm>
            <a:off x="7338826" y="2007691"/>
            <a:ext cx="12941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 statistics</a:t>
            </a:r>
            <a:endParaRPr lang="en-US" sz="750" dirty="0"/>
          </a:p>
        </p:txBody>
      </p:sp>
      <p:sp>
        <p:nvSpPr>
          <p:cNvPr id="25" name="Text 17"/>
          <p:cNvSpPr/>
          <p:nvPr/>
        </p:nvSpPr>
        <p:spPr>
          <a:xfrm>
            <a:off x="381000" y="2474416"/>
            <a:ext cx="2870150" cy="2383334"/>
          </a:xfrm>
          <a:prstGeom prst="roundRect">
            <a:avLst>
              <a:gd name="adj" fmla="val 399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533400" y="2795439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533400" y="3203079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proteomics-shiny-demo/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533400" y="3469779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app.R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533400" y="3736479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R/generate_data.R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533400" y="4003179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data/*.csv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33400" y="4269879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 README.md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3441650" y="2660303"/>
            <a:ext cx="31400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Methods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3441650" y="2915543"/>
            <a:ext cx="3078510" cy="521940"/>
          </a:xfrm>
          <a:prstGeom prst="roundRect">
            <a:avLst>
              <a:gd name="adj" fmla="val 145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3789015" y="3020318"/>
            <a:ext cx="1954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789015" y="3199358"/>
            <a:ext cx="1954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prcomp() with scaling, row-median imputation</a:t>
            </a:r>
            <a:endParaRPr lang="en-US" sz="750" dirty="0"/>
          </a:p>
        </p:txBody>
      </p:sp>
      <p:sp>
        <p:nvSpPr>
          <p:cNvPr id="36" name="Text 28"/>
          <p:cNvSpPr/>
          <p:nvPr/>
        </p:nvSpPr>
        <p:spPr>
          <a:xfrm>
            <a:off x="3441650" y="3532733"/>
            <a:ext cx="3078510" cy="521940"/>
          </a:xfrm>
          <a:prstGeom prst="roundRect">
            <a:avLst>
              <a:gd name="adj" fmla="val 145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3789015" y="3637508"/>
            <a:ext cx="15446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Two-group tests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3789015" y="3816548"/>
            <a:ext cx="15446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Welch's t-test or Wilcoxon rank-sum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3441650" y="4149923"/>
            <a:ext cx="3078510" cy="521940"/>
          </a:xfrm>
          <a:prstGeom prst="roundRect">
            <a:avLst>
              <a:gd name="adj" fmla="val 145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3789015" y="4254698"/>
            <a:ext cx="15605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testing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3789015" y="4433739"/>
            <a:ext cx="1560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Benjamini-Hochberg FDR correction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6710660" y="2363242"/>
            <a:ext cx="20933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6710660" y="2618482"/>
            <a:ext cx="2052340" cy="720030"/>
          </a:xfrm>
          <a:prstGeom prst="roundRect">
            <a:avLst>
              <a:gd name="adj" fmla="val 1058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6806723" y="2732782"/>
            <a:ext cx="18602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&lt;2s</a:t>
            </a:r>
            <a:endParaRPr lang="en-US" sz="1800" dirty="0"/>
          </a:p>
        </p:txBody>
      </p:sp>
      <p:sp>
        <p:nvSpPr>
          <p:cNvPr id="45" name="Text 37"/>
          <p:cNvSpPr/>
          <p:nvPr/>
        </p:nvSpPr>
        <p:spPr>
          <a:xfrm>
            <a:off x="6806723" y="3090863"/>
            <a:ext cx="18602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load time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6710660" y="3433763"/>
            <a:ext cx="2052340" cy="720030"/>
          </a:xfrm>
          <a:prstGeom prst="roundRect">
            <a:avLst>
              <a:gd name="adj" fmla="val 1058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6806723" y="3548063"/>
            <a:ext cx="18602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~5s</a:t>
            </a:r>
            <a:endParaRPr lang="en-US" sz="1800" dirty="0"/>
          </a:p>
        </p:txBody>
      </p:sp>
      <p:sp>
        <p:nvSpPr>
          <p:cNvPr id="48" name="Text 40"/>
          <p:cNvSpPr/>
          <p:nvPr/>
        </p:nvSpPr>
        <p:spPr>
          <a:xfrm>
            <a:off x="6806723" y="3906143"/>
            <a:ext cx="18602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diff analysis</a:t>
            </a:r>
            <a:endParaRPr lang="en-US" sz="750" dirty="0"/>
          </a:p>
        </p:txBody>
      </p:sp>
      <p:sp>
        <p:nvSpPr>
          <p:cNvPr id="49" name="Text 41"/>
          <p:cNvSpPr/>
          <p:nvPr/>
        </p:nvSpPr>
        <p:spPr>
          <a:xfrm>
            <a:off x="6710660" y="4249043"/>
            <a:ext cx="2052340" cy="720030"/>
          </a:xfrm>
          <a:prstGeom prst="roundRect">
            <a:avLst>
              <a:gd name="adj" fmla="val 10583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6806723" y="4363343"/>
            <a:ext cx="18602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70K</a:t>
            </a:r>
            <a:endParaRPr lang="en-US" sz="1800" dirty="0"/>
          </a:p>
        </p:txBody>
      </p:sp>
      <p:sp>
        <p:nvSpPr>
          <p:cNvPr id="51" name="Text 43"/>
          <p:cNvSpPr/>
          <p:nvPr/>
        </p:nvSpPr>
        <p:spPr>
          <a:xfrm>
            <a:off x="6806723" y="4721423"/>
            <a:ext cx="18602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 handled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77865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Outcomes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Portfolio-ready accomplishments and transferable skills demonstrated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454497"/>
            <a:ext cx="4989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TALKING POINTS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381000" y="1742033"/>
            <a:ext cx="489198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00050" y="1742033"/>
            <a:ext cx="0" cy="638175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2450" y="1875383"/>
            <a:ext cx="46789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"Built and deployed a Shiny app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cross-study proteomics exploration, QC visualization, and differential analysis"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81000" y="2475458"/>
            <a:ext cx="489198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475458"/>
            <a:ext cx="0" cy="638175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2450" y="2608808"/>
            <a:ext cx="46789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"Designed standardized data structures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enabling integration across 3 clinical trials with 140 samples"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81000" y="3208883"/>
            <a:ext cx="489198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3208883"/>
            <a:ext cx="0" cy="63817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2450" y="3342233"/>
            <a:ext cx="46789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"Implemented statistical analysis pipelines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including PCA, t-tests, and Benjamini-Hochberg correction for 500-protein datasets"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381000" y="3942308"/>
            <a:ext cx="4891980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942308"/>
            <a:ext cx="0" cy="63817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4075658"/>
            <a:ext cx="46789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"Created self-service analytics tools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reducing time-to-insight from weeks to seconds for research scientists"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5501580" y="1405979"/>
            <a:ext cx="3326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DEMONSTRATED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5501580" y="1693515"/>
            <a:ext cx="3261420" cy="2247751"/>
          </a:xfrm>
          <a:prstGeom prst="roundRect">
            <a:avLst>
              <a:gd name="adj" fmla="val 423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53980" y="1868686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15930" y="1845915"/>
            <a:ext cx="13503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15930" y="2024955"/>
            <a:ext cx="13503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ggplot2, interactive dashboards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653980" y="2276326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015930" y="2253555"/>
            <a:ext cx="14041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Bioinformatics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015930" y="2432596"/>
            <a:ext cx="1404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Proteomics, omics data handling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653980" y="2683966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015930" y="2661196"/>
            <a:ext cx="10583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015930" y="2840236"/>
            <a:ext cx="1058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testing, FDR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653980" y="3091607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015930" y="3068836"/>
            <a:ext cx="12294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015930" y="3247876"/>
            <a:ext cx="12294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Shiny, reactive programming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653980" y="3499247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015930" y="3476476"/>
            <a:ext cx="13660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Domain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015930" y="3655516"/>
            <a:ext cx="13660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 data, QC workflows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501580" y="4055566"/>
            <a:ext cx="3261420" cy="573286"/>
          </a:xfrm>
          <a:prstGeom prst="roundRect">
            <a:avLst>
              <a:gd name="adj" fmla="val 132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585552" y="4169866"/>
            <a:ext cx="3093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on GitHub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5585552" y="4354562"/>
            <a:ext cx="3093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github.com/user/proteomics-shiny-demo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Proteomics Shiny Explorer</dc:title>
  <dc:subject>Cross-Study Proteomics Dashboard</dc:subject>
  <dc:creator>Portfolio Demo</dc:creator>
  <cp:lastModifiedBy>Portfolio Demo</cp:lastModifiedBy>
  <cp:revision>1</cp:revision>
  <dcterms:created xsi:type="dcterms:W3CDTF">2026-01-11T06:44:05Z</dcterms:created>
  <dcterms:modified xsi:type="dcterms:W3CDTF">2026-01-11T06:44:05Z</dcterms:modified>
</cp:coreProperties>
</file>